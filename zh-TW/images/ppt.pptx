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9" r:id="rId2"/>
    <p:sldId id="267" r:id="rId3"/>
    <p:sldId id="269" r:id="rId4"/>
    <p:sldId id="260" r:id="rId5"/>
    <p:sldId id="271" r:id="rId6"/>
    <p:sldId id="272" r:id="rId7"/>
    <p:sldId id="268" r:id="rId8"/>
    <p:sldId id="258" r:id="rId9"/>
    <p:sldId id="270" r:id="rId10"/>
    <p:sldId id="261" r:id="rId11"/>
    <p:sldId id="262" r:id="rId12"/>
    <p:sldId id="263" r:id="rId13"/>
    <p:sldId id="264" r:id="rId14"/>
    <p:sldId id="266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D84ECF3-A61C-A347-A331-23BF33CE3996}">
          <p14:sldIdLst/>
        </p14:section>
        <p14:section name="Leap Month" id="{872BC61C-140B-894C-B8C0-35DAEA5F9CEA}">
          <p14:sldIdLst>
            <p14:sldId id="259"/>
            <p14:sldId id="267"/>
            <p14:sldId id="269"/>
            <p14:sldId id="260"/>
            <p14:sldId id="271"/>
            <p14:sldId id="272"/>
            <p14:sldId id="268"/>
            <p14:sldId id="258"/>
            <p14:sldId id="270"/>
            <p14:sldId id="261"/>
            <p14:sldId id="262"/>
          </p14:sldIdLst>
        </p14:section>
        <p14:section name="Discord" id="{5F461A20-7D79-7C41-80A1-A0F8F1183440}">
          <p14:sldIdLst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74"/>
  </p:normalViewPr>
  <p:slideViewPr>
    <p:cSldViewPr snapToGrid="0">
      <p:cViewPr varScale="1">
        <p:scale>
          <a:sx n="124" d="100"/>
          <a:sy n="12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302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756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159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485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5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783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20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590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67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704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921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67C7-C5E0-AE46-9845-AC55A6B1D4C5}" type="datetimeFigureOut">
              <a:rPr kumimoji="1" lang="zh-TW" altLang="en-US" smtClean="0"/>
              <a:t>2023/4/23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424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2963C260-66A6-C5AC-518F-FB4CFFF1F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43988"/>
              </p:ext>
            </p:extLst>
          </p:nvPr>
        </p:nvGraphicFramePr>
        <p:xfrm>
          <a:off x="0" y="1489752"/>
          <a:ext cx="12191998" cy="3878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4577219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9294925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66378669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01867863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5716652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28130287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472289533"/>
                    </a:ext>
                  </a:extLst>
                </a:gridCol>
              </a:tblGrid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立春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Beginning of Spring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大寒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Major Cold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小寒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Minor Cold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冬至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Winter Solstice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大雪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Major Snow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小雪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Minor Snow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立冬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Beginning of Winter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444465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雨水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Rain Water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霜降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Frost's Descent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351231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驚蟄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Awakening of Insects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altLang="zh-TW" sz="2400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The 24 Solar Terms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altLang="zh-TW" sz="1000" b="0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Beijing 2022 Winter Olympics official translation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寒露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Cold Dew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0946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春分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Spring Equinox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r>
                        <a:rPr lang="en-GB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The 24 Solar Terms</a:t>
                      </a:r>
                    </a:p>
                    <a:p>
                      <a:pPr algn="ctr"/>
                      <a:r>
                        <a:rPr lang="en-GB" altLang="zh-TW" sz="900" b="0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Beijing 2022 Winter Olympics official translation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秋分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Autumn Equinox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172207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清明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Pure Brightness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白露</a:t>
                      </a:r>
                      <a:endParaRPr lang="en-US" altLang="zh-TW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algn="ctr"/>
                      <a:r>
                        <a:rPr lang="en-US" altLang="zh-TW" sz="1200" b="0" i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White Dew</a:t>
                      </a:r>
                      <a:endParaRPr lang="zh-TW" altLang="en-US" sz="1200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371251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穀雨</a:t>
                      </a:r>
                      <a:endParaRPr lang="en-US" altLang="zh-TW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Grain Rain </a:t>
                      </a:r>
                      <a:endParaRPr lang="zh-TW" altLang="en-US" sz="1200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處暑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End of Heat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70881"/>
                  </a:ext>
                </a:extLst>
              </a:tr>
              <a:tr h="55407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立夏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Beginning of Summer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小滿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Grain Buds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芒種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Grain in Ear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夏至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Summer Solstice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小暑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Minor Heat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大暑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Major heat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立秋</a:t>
                      </a:r>
                      <a:endParaRPr lang="en-US" altLang="zh-TW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i="0" dirty="0">
                          <a:solidFill>
                            <a:schemeClr val="bg1"/>
                          </a:solidFill>
                          <a:latin typeface="Comfortaa Light" pitchFamily="2" charset="0"/>
                          <a:ea typeface="Resource Han Rounded TW Light" panose="020B0300000000000000" pitchFamily="34" charset="-128"/>
                        </a:rPr>
                        <a:t>Beginning of Autumn </a:t>
                      </a:r>
                      <a:endParaRPr lang="zh-TW" altLang="en-US" sz="1200" b="0" i="0" dirty="0">
                        <a:solidFill>
                          <a:schemeClr val="bg1"/>
                        </a:solidFill>
                        <a:latin typeface="Comfortaa Light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29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97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43100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A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C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D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E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F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G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H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I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J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K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L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M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N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O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P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Q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R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This WS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Next WS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39181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77F955-4872-B6CA-382E-D824968C2CA8}"/>
              </a:ext>
            </a:extLst>
          </p:cNvPr>
          <p:cNvSpPr txBox="1"/>
          <p:nvPr/>
        </p:nvSpPr>
        <p:spPr>
          <a:xfrm>
            <a:off x="5014614" y="3949664"/>
            <a:ext cx="216277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ysClr val="windowText" lastClr="000000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A year is this long</a:t>
            </a:r>
            <a:endParaRPr kumimoji="1" lang="zh-TW" altLang="en-US" b="1" dirty="0">
              <a:solidFill>
                <a:sysClr val="windowText" lastClr="000000"/>
              </a:solidFill>
              <a:latin typeface="Resource Han Rounded TW" panose="020B0300000000000000" pitchFamily="34" charset="-128"/>
              <a:ea typeface="Resource Han Rounded TW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257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045109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A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C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D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E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F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G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H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I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J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K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L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M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N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O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P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Q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R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12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sz="14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Zheng</a:t>
                      </a:r>
                      <a:endParaRPr lang="zh-TW" altLang="en-US" sz="16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2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3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4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5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6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7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8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9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10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07096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94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588323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A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C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D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E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F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G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H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I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J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K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L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M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N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O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P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Q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R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12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sz="14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Zheng</a:t>
                      </a:r>
                      <a:endParaRPr lang="zh-TW" altLang="en-US" sz="16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2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3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4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5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6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7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8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9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10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079040"/>
              </p:ext>
            </p:extLst>
          </p:nvPr>
        </p:nvGraphicFramePr>
        <p:xfrm>
          <a:off x="1713949" y="4404927"/>
          <a:ext cx="8065476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812758"/>
              </p:ext>
            </p:extLst>
          </p:nvPr>
        </p:nvGraphicFramePr>
        <p:xfrm>
          <a:off x="1395900" y="4696474"/>
          <a:ext cx="8737599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GB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</a:t>
                      </a:r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22" name="迴轉箭號 21">
            <a:extLst>
              <a:ext uri="{FF2B5EF4-FFF2-40B4-BE49-F238E27FC236}">
                <a16:creationId xmlns:a16="http://schemas.microsoft.com/office/drawing/2014/main" id="{C6DFBD75-9DED-EF10-3747-2B46E11B17E8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0700CB-9D4E-71E7-D3C5-95FF4416EDFD}"/>
              </a:ext>
            </a:extLst>
          </p:cNvPr>
          <p:cNvSpPr txBox="1"/>
          <p:nvPr/>
        </p:nvSpPr>
        <p:spPr>
          <a:xfrm>
            <a:off x="233106" y="1396439"/>
            <a:ext cx="435568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The second lunar month after the one that</a:t>
            </a:r>
          </a:p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includes the WS, excluding any leap month, is Zheng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  <a:latin typeface="Comfortaa Light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989D482-72BF-E971-63D9-CF7DBBE76595}"/>
              </a:ext>
            </a:extLst>
          </p:cNvPr>
          <p:cNvSpPr txBox="1"/>
          <p:nvPr/>
        </p:nvSpPr>
        <p:spPr>
          <a:xfrm>
            <a:off x="10133499" y="4827259"/>
            <a:ext cx="1615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sz="1600" b="0" i="0" dirty="0">
                <a:solidFill>
                  <a:schemeClr val="bg1">
                    <a:lumMod val="50000"/>
                  </a:schemeClr>
                </a:solidFill>
                <a:latin typeface="Comfortaa Light" pitchFamily="2" charset="0"/>
                <a:ea typeface="Resource Han Rounded TW Light" panose="020B0300000000000000" pitchFamily="34" charset="-128"/>
              </a:rPr>
              <a:t>←</a:t>
            </a:r>
            <a:r>
              <a:rPr lang="en-US" altLang="zh-TW" sz="1600" dirty="0">
                <a:solidFill>
                  <a:schemeClr val="bg1">
                    <a:lumMod val="50000"/>
                  </a:schemeClr>
                </a:solidFill>
                <a:latin typeface="Comfortaa Light" pitchFamily="2" charset="0"/>
                <a:ea typeface="Resource Han Rounded TW Light" panose="020B0300000000000000" pitchFamily="34" charset="-128"/>
              </a:rPr>
              <a:t> 11 </a:t>
            </a:r>
            <a:r>
              <a:rPr lang="en-GB" altLang="zh-TW" sz="1600" dirty="0" err="1">
                <a:solidFill>
                  <a:schemeClr val="bg1">
                    <a:lumMod val="50000"/>
                  </a:schemeClr>
                </a:solidFill>
                <a:latin typeface="Comfortaa" pitchFamily="2" charset="0"/>
                <a:ea typeface="Resource Han Rounded TW Light" panose="020B0300000000000000" pitchFamily="34" charset="-128"/>
              </a:rPr>
              <a:t>zhongqi</a:t>
            </a:r>
            <a:endParaRPr lang="en-GB" altLang="zh-TW" sz="1600" b="0" i="0" dirty="0">
              <a:solidFill>
                <a:schemeClr val="bg1">
                  <a:lumMod val="50000"/>
                </a:schemeClr>
              </a:solidFill>
              <a:latin typeface="Comfortaa" pitchFamily="2" charset="0"/>
              <a:ea typeface="Resource Han Rounded TW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792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35845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A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C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D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E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F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G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H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I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J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K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L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M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N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O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P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Q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R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12 </a:t>
                      </a:r>
                      <a:r>
                        <a:rPr lang="en-US" altLang="zh-TW" sz="14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sz="14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Zheng</a:t>
                      </a:r>
                      <a:endParaRPr lang="zh-TW" altLang="en-US" sz="16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2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Leap</a:t>
                      </a:r>
                    </a:p>
                    <a:p>
                      <a:pPr algn="ctr"/>
                      <a:r>
                        <a:rPr lang="en-US" altLang="zh-TW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2</a:t>
                      </a:r>
                      <a:endParaRPr lang="zh-TW" altLang="en-US" b="0" i="0" dirty="0">
                        <a:solidFill>
                          <a:schemeClr val="accent5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3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4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5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6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7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8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9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10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475354"/>
              </p:ext>
            </p:extLst>
          </p:nvPr>
        </p:nvGraphicFramePr>
        <p:xfrm>
          <a:off x="1780208" y="4405729"/>
          <a:ext cx="8980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8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62755"/>
              </p:ext>
            </p:extLst>
          </p:nvPr>
        </p:nvGraphicFramePr>
        <p:xfrm>
          <a:off x="1451618" y="4706553"/>
          <a:ext cx="9706710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67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GB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</a:t>
                      </a:r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GB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</a:t>
                      </a:r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6" name="迴轉箭號 5">
            <a:extLst>
              <a:ext uri="{FF2B5EF4-FFF2-40B4-BE49-F238E27FC236}">
                <a16:creationId xmlns:a16="http://schemas.microsoft.com/office/drawing/2014/main" id="{7EE48268-68F6-8219-8DB3-DE1DD0003681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95401C2-09EC-F3AC-960C-4CA1229D69DD}"/>
              </a:ext>
            </a:extLst>
          </p:cNvPr>
          <p:cNvSpPr txBox="1"/>
          <p:nvPr/>
        </p:nvSpPr>
        <p:spPr>
          <a:xfrm>
            <a:off x="233106" y="1396439"/>
            <a:ext cx="435568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The second lunar month after the one that</a:t>
            </a:r>
          </a:p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includes the WS, excluding any leap month, is Zheng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  <a:latin typeface="Comforta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97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291038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A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B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C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D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E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F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G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H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I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J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K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L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M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N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O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Resource Han Rounded TW Light" panose="020B0300000000000000" pitchFamily="34" charset="-128"/>
                        </a:rPr>
                        <a:t>P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Resource Han Rounded TW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Q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0" dirty="0">
                          <a:solidFill>
                            <a:schemeClr val="bg1"/>
                          </a:solidFill>
                          <a:latin typeface="Comfortaa" pitchFamily="2" charset="0"/>
                          <a:ea typeface="+mn-ea"/>
                        </a:rPr>
                        <a:t>R</a:t>
                      </a:r>
                      <a:endParaRPr lang="zh-TW" altLang="en-US" b="1" i="0" dirty="0">
                        <a:solidFill>
                          <a:schemeClr val="bg1"/>
                        </a:solidFill>
                        <a:latin typeface="Comfortaa" pitchFamily="2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 </a:t>
                      </a:r>
                      <a:r>
                        <a:rPr lang="en-US" altLang="zh-TW" sz="1400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Leap</a:t>
                      </a:r>
                    </a:p>
                    <a:p>
                      <a:pPr algn="ctr"/>
                      <a:r>
                        <a:rPr lang="en-US" altLang="zh-TW" b="0" i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 </a:t>
                      </a:r>
                      <a:r>
                        <a:rPr lang="en-US" altLang="zh-TW" sz="1400" b="0" i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sz="1400" b="0" i="0" dirty="0">
                        <a:solidFill>
                          <a:schemeClr val="accent5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12 </a:t>
                      </a:r>
                      <a:r>
                        <a:rPr lang="en-US" altLang="zh-TW" sz="1400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(Last)</a:t>
                      </a:r>
                      <a:endParaRPr lang="zh-TW" altLang="en-US" sz="14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Zheng</a:t>
                      </a:r>
                      <a:endParaRPr lang="zh-TW" altLang="en-US" sz="1600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2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3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4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5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6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7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8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9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10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11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180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/>
        </p:nvGraphicFramePr>
        <p:xfrm>
          <a:off x="1308260" y="4405729"/>
          <a:ext cx="8506901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84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599089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801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02691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7736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89179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07196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35125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02692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61249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84783"/>
              </p:ext>
            </p:extLst>
          </p:nvPr>
        </p:nvGraphicFramePr>
        <p:xfrm>
          <a:off x="979670" y="4706553"/>
          <a:ext cx="9243624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48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GB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</a:t>
                      </a:r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GB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Ｗ</a:t>
                      </a:r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Ｓ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3" name="迴轉箭號 2">
            <a:extLst>
              <a:ext uri="{FF2B5EF4-FFF2-40B4-BE49-F238E27FC236}">
                <a16:creationId xmlns:a16="http://schemas.microsoft.com/office/drawing/2014/main" id="{3D423F68-D882-AE47-5008-2416F4A2352C}"/>
              </a:ext>
            </a:extLst>
          </p:cNvPr>
          <p:cNvSpPr/>
          <p:nvPr/>
        </p:nvSpPr>
        <p:spPr>
          <a:xfrm>
            <a:off x="979670" y="1878730"/>
            <a:ext cx="2167568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1158EC-8462-D474-3003-4FACB3C83C07}"/>
              </a:ext>
            </a:extLst>
          </p:cNvPr>
          <p:cNvSpPr txBox="1"/>
          <p:nvPr/>
        </p:nvSpPr>
        <p:spPr>
          <a:xfrm>
            <a:off x="233106" y="1396439"/>
            <a:ext cx="435568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The second lunar month after the one that</a:t>
            </a:r>
          </a:p>
          <a:p>
            <a:pPr algn="ctr"/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  <a:latin typeface="Comfortaa Light" pitchFamily="2" charset="0"/>
              </a:rPr>
              <a:t>includes the WS, excluding any leap month, is Zheng</a:t>
            </a:r>
            <a:endParaRPr kumimoji="1" lang="zh-TW" altLang="en-US" sz="1200" dirty="0">
              <a:solidFill>
                <a:schemeClr val="bg1">
                  <a:lumMod val="75000"/>
                </a:schemeClr>
              </a:solidFill>
              <a:latin typeface="Comforta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0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/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下次冬至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39181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77F955-4872-B6CA-382E-D824968C2CA8}"/>
              </a:ext>
            </a:extLst>
          </p:cNvPr>
          <p:cNvSpPr txBox="1"/>
          <p:nvPr/>
        </p:nvSpPr>
        <p:spPr>
          <a:xfrm>
            <a:off x="4913974" y="3949664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ysClr val="windowText" lastClr="000000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一年大約這麼長</a:t>
            </a:r>
          </a:p>
        </p:txBody>
      </p:sp>
    </p:spTree>
    <p:extLst>
      <p:ext uri="{BB962C8B-B14F-4D97-AF65-F5344CB8AC3E}">
        <p14:creationId xmlns:p14="http://schemas.microsoft.com/office/powerpoint/2010/main" val="188910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47107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07096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80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/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/>
        </p:nvGraphicFramePr>
        <p:xfrm>
          <a:off x="1713949" y="4404927"/>
          <a:ext cx="8065476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/>
        </p:nvGraphicFramePr>
        <p:xfrm>
          <a:off x="1395900" y="4696474"/>
          <a:ext cx="8737599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22" name="迴轉箭號 21">
            <a:extLst>
              <a:ext uri="{FF2B5EF4-FFF2-40B4-BE49-F238E27FC236}">
                <a16:creationId xmlns:a16="http://schemas.microsoft.com/office/drawing/2014/main" id="{C6DFBD75-9DED-EF10-3747-2B46E11B17E8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0700CB-9D4E-71E7-D3C5-95FF4416EDFD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181827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71089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閏二月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038326"/>
              </p:ext>
            </p:extLst>
          </p:nvPr>
        </p:nvGraphicFramePr>
        <p:xfrm>
          <a:off x="1780208" y="4405729"/>
          <a:ext cx="8980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8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65920"/>
              </p:ext>
            </p:extLst>
          </p:nvPr>
        </p:nvGraphicFramePr>
        <p:xfrm>
          <a:off x="1451618" y="4706553"/>
          <a:ext cx="9706710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67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6" name="迴轉箭號 5">
            <a:extLst>
              <a:ext uri="{FF2B5EF4-FFF2-40B4-BE49-F238E27FC236}">
                <a16:creationId xmlns:a16="http://schemas.microsoft.com/office/drawing/2014/main" id="{7EE48268-68F6-8219-8DB3-DE1DD0003681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290E4F-34CD-6951-B92A-72F44C4317FF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59235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352761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去年閏十一月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50356"/>
              </p:ext>
            </p:extLst>
          </p:nvPr>
        </p:nvGraphicFramePr>
        <p:xfrm>
          <a:off x="1308260" y="4405729"/>
          <a:ext cx="8506901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84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599089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801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02691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7736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89179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07196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35125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02692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61249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81787"/>
              </p:ext>
            </p:extLst>
          </p:nvPr>
        </p:nvGraphicFramePr>
        <p:xfrm>
          <a:off x="979670" y="4706553"/>
          <a:ext cx="9243624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48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3" name="迴轉箭號 2">
            <a:extLst>
              <a:ext uri="{FF2B5EF4-FFF2-40B4-BE49-F238E27FC236}">
                <a16:creationId xmlns:a16="http://schemas.microsoft.com/office/drawing/2014/main" id="{3D423F68-D882-AE47-5008-2416F4A2352C}"/>
              </a:ext>
            </a:extLst>
          </p:cNvPr>
          <p:cNvSpPr/>
          <p:nvPr/>
        </p:nvSpPr>
        <p:spPr>
          <a:xfrm>
            <a:off x="979670" y="1878730"/>
            <a:ext cx="2167568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CAE6B-FCAE-7C9B-C7CB-E63742727FEB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107426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4162" cy="138032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76200">
            <a:gradFill>
              <a:gsLst>
                <a:gs pos="0">
                  <a:schemeClr val="accent4">
                    <a:lumMod val="55563"/>
                    <a:lumOff val="44437"/>
                  </a:schemeClr>
                </a:gs>
                <a:gs pos="74000">
                  <a:schemeClr val="accent4">
                    <a:lumMod val="93929"/>
                  </a:schemeClr>
                </a:gs>
                <a:gs pos="83000">
                  <a:schemeClr val="accent4">
                    <a:lumMod val="93000"/>
                  </a:schemeClr>
                </a:gs>
                <a:gs pos="100000">
                  <a:schemeClr val="accent4">
                    <a:lumMod val="49562"/>
                    <a:lumOff val="50438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Rules </a:t>
            </a:r>
            <a:r>
              <a:rPr kumimoji="1" lang="zh-TW" altLang="en-US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規則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83" y="3006436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018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194367"/>
            <a:ext cx="5166000" cy="138032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76200">
            <a:gradFill>
              <a:gsLst>
                <a:gs pos="0">
                  <a:schemeClr val="bg1">
                    <a:lumMod val="56000"/>
                    <a:lumOff val="44000"/>
                  </a:schemeClr>
                </a:gs>
                <a:gs pos="74000">
                  <a:schemeClr val="bg1">
                    <a:lumMod val="94000"/>
                  </a:schemeClr>
                </a:gs>
                <a:gs pos="83000">
                  <a:schemeClr val="bg1">
                    <a:lumMod val="94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Notes </a:t>
            </a:r>
            <a:r>
              <a:rPr kumimoji="1" lang="zh-TW" altLang="en-US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注意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02327" y="3006436"/>
            <a:ext cx="1756183" cy="175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145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6000" cy="138032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gradFill>
              <a:gsLst>
                <a:gs pos="0">
                  <a:schemeClr val="accent2">
                    <a:lumMod val="46540"/>
                    <a:lumOff val="53460"/>
                  </a:schemeClr>
                </a:gs>
                <a:gs pos="74000">
                  <a:schemeClr val="accent2">
                    <a:lumMod val="68654"/>
                    <a:lumOff val="31346"/>
                  </a:schemeClr>
                </a:gs>
                <a:gs pos="83000">
                  <a:schemeClr val="accent2">
                    <a:lumMod val="76000"/>
                    <a:lumOff val="24000"/>
                  </a:schemeClr>
                </a:gs>
                <a:gs pos="100000">
                  <a:schemeClr val="accent2">
                    <a:lumMod val="70000"/>
                    <a:lumOff val="3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44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Punishments  </a:t>
            </a:r>
            <a:r>
              <a:rPr kumimoji="1" lang="zh-TW" altLang="en-US" sz="44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懲罰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70383" y="3006436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3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4162" cy="138032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00">
                  <a:lumMod val="22991"/>
                  <a:lumOff val="77009"/>
                </a:srgbClr>
              </a:gs>
              <a:gs pos="100000">
                <a:srgbClr val="FFFF00">
                  <a:lumMod val="23000"/>
                  <a:lumOff val="77000"/>
                </a:srgbClr>
              </a:gs>
            </a:gsLst>
            <a:lin ang="5400000" scaled="1"/>
          </a:gradFill>
          <a:ln w="76200">
            <a:gradFill>
              <a:gsLst>
                <a:gs pos="0">
                  <a:srgbClr val="FFFF00">
                    <a:lumMod val="22991"/>
                    <a:lumOff val="77009"/>
                  </a:srgbClr>
                </a:gs>
                <a:gs pos="74000">
                  <a:srgbClr val="FFFF00"/>
                </a:gs>
                <a:gs pos="83000">
                  <a:srgbClr val="FFFF00"/>
                </a:gs>
                <a:gs pos="100000">
                  <a:srgbClr val="FFFF00">
                    <a:lumMod val="27854"/>
                    <a:lumOff val="72146"/>
                  </a:srgb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66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Mods</a:t>
            </a:r>
            <a:r>
              <a:rPr kumimoji="1" lang="zh-TW" altLang="en-US" sz="66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 管理員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E88F6C-A4F8-E577-3E34-3B0076F0C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28255" y="2944406"/>
            <a:ext cx="2258290" cy="21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4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662</TotalTime>
  <Words>621</Words>
  <Application>Microsoft Macintosh PowerPoint</Application>
  <PresentationFormat>寬螢幕</PresentationFormat>
  <Paragraphs>442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Resource Han Rounded TW</vt:lpstr>
      <vt:lpstr>Resource Han Rounded TW Light</vt:lpstr>
      <vt:lpstr>Arial</vt:lpstr>
      <vt:lpstr>Comfortaa</vt:lpstr>
      <vt:lpstr>Comfortaa Light</vt:lpstr>
      <vt:lpstr>Rockwell</vt:lpstr>
      <vt:lpstr>Tw Cen MT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 Shih Chien</dc:creator>
  <cp:lastModifiedBy>Sun Shih Chien</cp:lastModifiedBy>
  <cp:revision>23</cp:revision>
  <dcterms:created xsi:type="dcterms:W3CDTF">2023-04-01T19:21:20Z</dcterms:created>
  <dcterms:modified xsi:type="dcterms:W3CDTF">2023-04-23T11:24:16Z</dcterms:modified>
</cp:coreProperties>
</file>