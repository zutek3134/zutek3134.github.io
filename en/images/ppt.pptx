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6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D84ECF3-A61C-A347-A331-23BF33CE3996}">
          <p14:sldIdLst/>
        </p14:section>
        <p14:section name="Leap Month" id="{872BC61C-140B-894C-B8C0-35DAEA5F9CEA}">
          <p14:sldIdLst>
            <p14:sldId id="259"/>
            <p14:sldId id="258"/>
            <p14:sldId id="260"/>
            <p14:sldId id="261"/>
            <p14:sldId id="262"/>
          </p14:sldIdLst>
        </p14:section>
        <p14:section name="Discord" id="{5F461A20-7D79-7C41-80A1-A0F8F1183440}">
          <p14:sldIdLst>
            <p14:sldId id="263"/>
            <p14:sldId id="264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E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57"/>
  </p:normalViewPr>
  <p:slideViewPr>
    <p:cSldViewPr snapToGrid="0">
      <p:cViewPr varScale="1">
        <p:scale>
          <a:sx n="93" d="100"/>
          <a:sy n="93" d="100"/>
        </p:scale>
        <p:origin x="21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53026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9756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1594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2023/4/8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4853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2023/4/8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951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2023/4/8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783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2023/4/8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3200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2023/4/8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7590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2023/4/8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67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7047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8921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B67C7-C5E0-AE46-9845-AC55A6B1D4C5}" type="datetimeFigureOut">
              <a:rPr kumimoji="1" lang="zh-TW" altLang="en-US" smtClean="0"/>
              <a:t>2023/4/8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94243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619671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下次冬至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A0F9493-49FE-AF32-45B8-2434030E8D0E}"/>
              </a:ext>
            </a:extLst>
          </p:cNvPr>
          <p:cNvCxnSpPr>
            <a:cxnSpLocks/>
          </p:cNvCxnSpPr>
          <p:nvPr/>
        </p:nvCxnSpPr>
        <p:spPr>
          <a:xfrm>
            <a:off x="1794630" y="4328294"/>
            <a:ext cx="8039181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0077F955-4872-B6CA-382E-D824968C2CA8}"/>
              </a:ext>
            </a:extLst>
          </p:cNvPr>
          <p:cNvSpPr txBox="1"/>
          <p:nvPr/>
        </p:nvSpPr>
        <p:spPr>
          <a:xfrm>
            <a:off x="4913974" y="3949664"/>
            <a:ext cx="180049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ysClr val="windowText" lastClr="000000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一年大約這麼長</a:t>
            </a:r>
          </a:p>
        </p:txBody>
      </p:sp>
    </p:spTree>
    <p:extLst>
      <p:ext uri="{BB962C8B-B14F-4D97-AF65-F5344CB8AC3E}">
        <p14:creationId xmlns:p14="http://schemas.microsoft.com/office/powerpoint/2010/main" val="1900971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047107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正月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三月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四月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五月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六月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七月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八月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九月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A0F9493-49FE-AF32-45B8-2434030E8D0E}"/>
              </a:ext>
            </a:extLst>
          </p:cNvPr>
          <p:cNvCxnSpPr>
            <a:cxnSpLocks/>
          </p:cNvCxnSpPr>
          <p:nvPr/>
        </p:nvCxnSpPr>
        <p:spPr>
          <a:xfrm>
            <a:off x="1794630" y="4328294"/>
            <a:ext cx="8007096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80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052895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正月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三月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四月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五月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六月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七月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八月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九月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C2315BE-A018-E295-C3E2-A0E50C78E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599276"/>
              </p:ext>
            </p:extLst>
          </p:nvPr>
        </p:nvGraphicFramePr>
        <p:xfrm>
          <a:off x="1713949" y="4404927"/>
          <a:ext cx="8065476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123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ctr"/>
                      <a:endParaRPr lang="zh-TW" altLang="en-US" b="1" i="0" dirty="0">
                        <a:latin typeface="Resource Han Rounded TW" panose="020B0300000000000000" pitchFamily="34" charset="-128"/>
                        <a:ea typeface="Resource Han Rounded TW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graphicFrame>
        <p:nvGraphicFramePr>
          <p:cNvPr id="21" name="表格 2">
            <a:extLst>
              <a:ext uri="{FF2B5EF4-FFF2-40B4-BE49-F238E27FC236}">
                <a16:creationId xmlns:a16="http://schemas.microsoft.com/office/drawing/2014/main" id="{43380BCA-B81B-A46C-2C91-A5EC3BC5C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212521"/>
              </p:ext>
            </p:extLst>
          </p:nvPr>
        </p:nvGraphicFramePr>
        <p:xfrm>
          <a:off x="1395900" y="4696474"/>
          <a:ext cx="8737599" cy="630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123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981051451"/>
                    </a:ext>
                  </a:extLst>
                </a:gridCol>
              </a:tblGrid>
              <a:tr h="63090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大寒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雨水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春分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穀雨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小滿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夏至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大暑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處暑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秋分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霜降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小雪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sp>
        <p:nvSpPr>
          <p:cNvPr id="22" name="迴轉箭號 21">
            <a:extLst>
              <a:ext uri="{FF2B5EF4-FFF2-40B4-BE49-F238E27FC236}">
                <a16:creationId xmlns:a16="http://schemas.microsoft.com/office/drawing/2014/main" id="{C6DFBD75-9DED-EF10-3747-2B46E11B17E8}"/>
              </a:ext>
            </a:extLst>
          </p:cNvPr>
          <p:cNvSpPr/>
          <p:nvPr/>
        </p:nvSpPr>
        <p:spPr>
          <a:xfrm>
            <a:off x="1674628" y="1878730"/>
            <a:ext cx="1472610" cy="357808"/>
          </a:xfrm>
          <a:prstGeom prst="uturnArrow">
            <a:avLst>
              <a:gd name="adj1" fmla="val 20122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F0700CB-9D4E-71E7-D3C5-95FF4416EDFD}"/>
              </a:ext>
            </a:extLst>
          </p:cNvPr>
          <p:cNvSpPr txBox="1"/>
          <p:nvPr/>
        </p:nvSpPr>
        <p:spPr>
          <a:xfrm>
            <a:off x="471940" y="1442605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bg1"/>
                </a:solidFill>
              </a:rPr>
              <a:t>冬至後，不算閏月的第二個月為正月</a:t>
            </a:r>
          </a:p>
        </p:txBody>
      </p:sp>
    </p:spTree>
    <p:extLst>
      <p:ext uri="{BB962C8B-B14F-4D97-AF65-F5344CB8AC3E}">
        <p14:creationId xmlns:p14="http://schemas.microsoft.com/office/powerpoint/2010/main" val="308792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771089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正月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accent5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閏二月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三月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四月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五月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六月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七月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八月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九月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C2315BE-A018-E295-C3E2-A0E50C78E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038326"/>
              </p:ext>
            </p:extLst>
          </p:nvPr>
        </p:nvGraphicFramePr>
        <p:xfrm>
          <a:off x="1780208" y="4405729"/>
          <a:ext cx="89805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80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ctr"/>
                      <a:endParaRPr lang="zh-TW" altLang="en-US" b="1" i="0" dirty="0">
                        <a:latin typeface="Resource Han Rounded TW" panose="020B0300000000000000" pitchFamily="34" charset="-128"/>
                        <a:ea typeface="Resource Han Rounded TW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graphicFrame>
        <p:nvGraphicFramePr>
          <p:cNvPr id="21" name="表格 2">
            <a:extLst>
              <a:ext uri="{FF2B5EF4-FFF2-40B4-BE49-F238E27FC236}">
                <a16:creationId xmlns:a16="http://schemas.microsoft.com/office/drawing/2014/main" id="{43380BCA-B81B-A46C-2C91-A5EC3BC5C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565920"/>
              </p:ext>
            </p:extLst>
          </p:nvPr>
        </p:nvGraphicFramePr>
        <p:xfrm>
          <a:off x="1451618" y="4706553"/>
          <a:ext cx="9706710" cy="630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670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2981051451"/>
                    </a:ext>
                  </a:extLst>
                </a:gridCol>
              </a:tblGrid>
              <a:tr h="63090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大寒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雨水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春分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穀雨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小滿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夏至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大暑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處暑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秋分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霜降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小雪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sp>
        <p:nvSpPr>
          <p:cNvPr id="6" name="迴轉箭號 5">
            <a:extLst>
              <a:ext uri="{FF2B5EF4-FFF2-40B4-BE49-F238E27FC236}">
                <a16:creationId xmlns:a16="http://schemas.microsoft.com/office/drawing/2014/main" id="{7EE48268-68F6-8219-8DB3-DE1DD0003681}"/>
              </a:ext>
            </a:extLst>
          </p:cNvPr>
          <p:cNvSpPr/>
          <p:nvPr/>
        </p:nvSpPr>
        <p:spPr>
          <a:xfrm>
            <a:off x="1674628" y="1878730"/>
            <a:ext cx="1472610" cy="357808"/>
          </a:xfrm>
          <a:prstGeom prst="uturnArrow">
            <a:avLst>
              <a:gd name="adj1" fmla="val 20122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290E4F-34CD-6951-B92A-72F44C4317FF}"/>
              </a:ext>
            </a:extLst>
          </p:cNvPr>
          <p:cNvSpPr txBox="1"/>
          <p:nvPr/>
        </p:nvSpPr>
        <p:spPr>
          <a:xfrm>
            <a:off x="471940" y="1442605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bg1"/>
                </a:solidFill>
              </a:rPr>
              <a:t>冬至後，不算閏月的第二個月為正月</a:t>
            </a:r>
          </a:p>
        </p:txBody>
      </p:sp>
    </p:spTree>
    <p:extLst>
      <p:ext uri="{BB962C8B-B14F-4D97-AF65-F5344CB8AC3E}">
        <p14:creationId xmlns:p14="http://schemas.microsoft.com/office/powerpoint/2010/main" val="2592353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352761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accent5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去年閏十一月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正月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三月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四月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五月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六月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七月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八月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九月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C2315BE-A018-E295-C3E2-A0E50C78E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650356"/>
              </p:ext>
            </p:extLst>
          </p:nvPr>
        </p:nvGraphicFramePr>
        <p:xfrm>
          <a:off x="1308260" y="4405729"/>
          <a:ext cx="8506901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284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599089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56745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680170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02691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47736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689179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07196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635125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02692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61249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56745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ctr"/>
                      <a:endParaRPr lang="zh-TW" altLang="en-US" b="1" i="0" dirty="0">
                        <a:latin typeface="Resource Han Rounded TW" panose="020B0300000000000000" pitchFamily="34" charset="-128"/>
                        <a:ea typeface="Resource Han Rounded TW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graphicFrame>
        <p:nvGraphicFramePr>
          <p:cNvPr id="21" name="表格 2">
            <a:extLst>
              <a:ext uri="{FF2B5EF4-FFF2-40B4-BE49-F238E27FC236}">
                <a16:creationId xmlns:a16="http://schemas.microsoft.com/office/drawing/2014/main" id="{43380BCA-B81B-A46C-2C91-A5EC3BC5C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581787"/>
              </p:ext>
            </p:extLst>
          </p:nvPr>
        </p:nvGraphicFramePr>
        <p:xfrm>
          <a:off x="979670" y="4706553"/>
          <a:ext cx="9243624" cy="630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048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2981051451"/>
                    </a:ext>
                  </a:extLst>
                </a:gridCol>
              </a:tblGrid>
              <a:tr h="63090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大寒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雨水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春分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穀雨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小滿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夏至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大暑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處暑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秋分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霜降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小雪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sp>
        <p:nvSpPr>
          <p:cNvPr id="3" name="迴轉箭號 2">
            <a:extLst>
              <a:ext uri="{FF2B5EF4-FFF2-40B4-BE49-F238E27FC236}">
                <a16:creationId xmlns:a16="http://schemas.microsoft.com/office/drawing/2014/main" id="{3D423F68-D882-AE47-5008-2416F4A2352C}"/>
              </a:ext>
            </a:extLst>
          </p:cNvPr>
          <p:cNvSpPr/>
          <p:nvPr/>
        </p:nvSpPr>
        <p:spPr>
          <a:xfrm>
            <a:off x="979670" y="1878730"/>
            <a:ext cx="2167568" cy="357808"/>
          </a:xfrm>
          <a:prstGeom prst="uturnArrow">
            <a:avLst>
              <a:gd name="adj1" fmla="val 20122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ECAE6B-FCAE-7C9B-C7CB-E63742727FEB}"/>
              </a:ext>
            </a:extLst>
          </p:cNvPr>
          <p:cNvSpPr txBox="1"/>
          <p:nvPr/>
        </p:nvSpPr>
        <p:spPr>
          <a:xfrm>
            <a:off x="471940" y="1442605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bg1"/>
                </a:solidFill>
              </a:rPr>
              <a:t>冬至後，不算閏月的第二個月為正月</a:t>
            </a:r>
          </a:p>
        </p:txBody>
      </p:sp>
    </p:spTree>
    <p:extLst>
      <p:ext uri="{BB962C8B-B14F-4D97-AF65-F5344CB8AC3E}">
        <p14:creationId xmlns:p14="http://schemas.microsoft.com/office/powerpoint/2010/main" val="2107426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圓角矩形 23">
            <a:extLst>
              <a:ext uri="{FF2B5EF4-FFF2-40B4-BE49-F238E27FC236}">
                <a16:creationId xmlns:a16="http://schemas.microsoft.com/office/drawing/2014/main" id="{6578E92B-7560-1D74-0869-3A8155541ECE}"/>
              </a:ext>
            </a:extLst>
          </p:cNvPr>
          <p:cNvSpPr/>
          <p:nvPr/>
        </p:nvSpPr>
        <p:spPr>
          <a:xfrm>
            <a:off x="3328674" y="3310338"/>
            <a:ext cx="5164162" cy="138032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76200">
            <a:gradFill>
              <a:gsLst>
                <a:gs pos="0">
                  <a:schemeClr val="accent4">
                    <a:lumMod val="55563"/>
                    <a:lumOff val="44437"/>
                  </a:schemeClr>
                </a:gs>
                <a:gs pos="74000">
                  <a:schemeClr val="accent4">
                    <a:lumMod val="93929"/>
                  </a:schemeClr>
                </a:gs>
                <a:gs pos="83000">
                  <a:schemeClr val="accent4">
                    <a:lumMod val="93000"/>
                  </a:schemeClr>
                </a:gs>
                <a:gs pos="100000">
                  <a:schemeClr val="accent4">
                    <a:lumMod val="49562"/>
                    <a:lumOff val="50438"/>
                  </a:schemeClr>
                </a:gs>
              </a:gsLst>
              <a:lin ang="5400000" scaled="1"/>
            </a:gra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6600" b="1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Rules </a:t>
            </a:r>
            <a:r>
              <a:rPr kumimoji="1" lang="zh-TW" altLang="en-US" sz="6600" b="1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規則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A7FE533-B94B-6A26-4F7B-657BA33D0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83" y="3006436"/>
            <a:ext cx="1988127" cy="198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018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圓角矩形 23">
            <a:extLst>
              <a:ext uri="{FF2B5EF4-FFF2-40B4-BE49-F238E27FC236}">
                <a16:creationId xmlns:a16="http://schemas.microsoft.com/office/drawing/2014/main" id="{6578E92B-7560-1D74-0869-3A8155541ECE}"/>
              </a:ext>
            </a:extLst>
          </p:cNvPr>
          <p:cNvSpPr/>
          <p:nvPr/>
        </p:nvSpPr>
        <p:spPr>
          <a:xfrm>
            <a:off x="3328674" y="3194367"/>
            <a:ext cx="5166000" cy="138032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76200">
            <a:gradFill>
              <a:gsLst>
                <a:gs pos="0">
                  <a:schemeClr val="bg1">
                    <a:lumMod val="56000"/>
                    <a:lumOff val="44000"/>
                  </a:schemeClr>
                </a:gs>
                <a:gs pos="74000">
                  <a:schemeClr val="bg1">
                    <a:lumMod val="94000"/>
                  </a:schemeClr>
                </a:gs>
                <a:gs pos="83000">
                  <a:schemeClr val="bg1">
                    <a:lumMod val="94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6600" b="1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Notes </a:t>
            </a:r>
            <a:r>
              <a:rPr kumimoji="1" lang="zh-TW" altLang="en-US" sz="6600" b="1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注意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A7FE533-B94B-6A26-4F7B-657BA33D0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302327" y="3006436"/>
            <a:ext cx="1756183" cy="175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14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圓角矩形 23">
            <a:extLst>
              <a:ext uri="{FF2B5EF4-FFF2-40B4-BE49-F238E27FC236}">
                <a16:creationId xmlns:a16="http://schemas.microsoft.com/office/drawing/2014/main" id="{6578E92B-7560-1D74-0869-3A8155541ECE}"/>
              </a:ext>
            </a:extLst>
          </p:cNvPr>
          <p:cNvSpPr/>
          <p:nvPr/>
        </p:nvSpPr>
        <p:spPr>
          <a:xfrm>
            <a:off x="3328674" y="3310338"/>
            <a:ext cx="5166000" cy="138032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gradFill>
              <a:gsLst>
                <a:gs pos="0">
                  <a:schemeClr val="accent2">
                    <a:lumMod val="46540"/>
                    <a:lumOff val="53460"/>
                  </a:schemeClr>
                </a:gs>
                <a:gs pos="74000">
                  <a:schemeClr val="accent2">
                    <a:lumMod val="68654"/>
                    <a:lumOff val="31346"/>
                  </a:schemeClr>
                </a:gs>
                <a:gs pos="83000">
                  <a:schemeClr val="accent2">
                    <a:lumMod val="76000"/>
                    <a:lumOff val="24000"/>
                  </a:schemeClr>
                </a:gs>
                <a:gs pos="100000">
                  <a:schemeClr val="accent2">
                    <a:lumMod val="70000"/>
                    <a:lumOff val="3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kumimoji="1" lang="en-US" altLang="zh-TW" sz="4400" b="1" spc="-300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Punishments  </a:t>
            </a:r>
            <a:r>
              <a:rPr kumimoji="1" lang="zh-TW" altLang="en-US" sz="4400" b="1" spc="-300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懲罰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A7FE533-B94B-6A26-4F7B-657BA33D0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070383" y="3006436"/>
            <a:ext cx="1988127" cy="198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731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圓角矩形 23">
            <a:extLst>
              <a:ext uri="{FF2B5EF4-FFF2-40B4-BE49-F238E27FC236}">
                <a16:creationId xmlns:a16="http://schemas.microsoft.com/office/drawing/2014/main" id="{6578E92B-7560-1D74-0869-3A8155541ECE}"/>
              </a:ext>
            </a:extLst>
          </p:cNvPr>
          <p:cNvSpPr/>
          <p:nvPr/>
        </p:nvSpPr>
        <p:spPr>
          <a:xfrm>
            <a:off x="3328674" y="3310338"/>
            <a:ext cx="5164162" cy="138032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00">
                  <a:lumMod val="22991"/>
                  <a:lumOff val="77009"/>
                </a:srgbClr>
              </a:gs>
              <a:gs pos="100000">
                <a:srgbClr val="FFFF00">
                  <a:lumMod val="23000"/>
                  <a:lumOff val="77000"/>
                </a:srgbClr>
              </a:gs>
            </a:gsLst>
            <a:lin ang="5400000" scaled="1"/>
          </a:gradFill>
          <a:ln w="76200">
            <a:gradFill>
              <a:gsLst>
                <a:gs pos="0">
                  <a:srgbClr val="FFFF00">
                    <a:lumMod val="22991"/>
                    <a:lumOff val="77009"/>
                  </a:srgbClr>
                </a:gs>
                <a:gs pos="74000">
                  <a:srgbClr val="FFFF00"/>
                </a:gs>
                <a:gs pos="83000">
                  <a:srgbClr val="FFFF00"/>
                </a:gs>
                <a:gs pos="100000">
                  <a:srgbClr val="FFFF00">
                    <a:lumMod val="27854"/>
                    <a:lumOff val="72146"/>
                  </a:srgbClr>
                </a:gs>
              </a:gsLst>
              <a:lin ang="5400000" scaled="1"/>
            </a:gra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kumimoji="1" lang="en-US" altLang="zh-TW" sz="6600" b="1" spc="-300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Mods</a:t>
            </a:r>
            <a:r>
              <a:rPr kumimoji="1" lang="zh-TW" altLang="en-US" sz="6600" b="1" spc="-300" dirty="0">
                <a:solidFill>
                  <a:srgbClr val="2D2E35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 管理員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5E88F6C-A4F8-E577-3E34-3B0076F0C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928255" y="2944406"/>
            <a:ext cx="2258290" cy="21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45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450</TotalTime>
  <Words>247</Words>
  <Application>Microsoft Macintosh PowerPoint</Application>
  <PresentationFormat>寬螢幕</PresentationFormat>
  <Paragraphs>193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Resource Han Rounded TW</vt:lpstr>
      <vt:lpstr>Resource Han Rounded TW Light</vt:lpstr>
      <vt:lpstr>Arial</vt:lpstr>
      <vt:lpstr>Rockwell</vt:lpstr>
      <vt:lpstr>Tw Cen MT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Sun Shih Chien</dc:creator>
  <cp:lastModifiedBy>Sun Shih Chien</cp:lastModifiedBy>
  <cp:revision>11</cp:revision>
  <dcterms:created xsi:type="dcterms:W3CDTF">2023-04-01T19:21:20Z</dcterms:created>
  <dcterms:modified xsi:type="dcterms:W3CDTF">2023-04-08T17:15:15Z</dcterms:modified>
</cp:coreProperties>
</file>