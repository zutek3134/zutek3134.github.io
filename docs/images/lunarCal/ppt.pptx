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9" r:id="rId2"/>
    <p:sldId id="258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74"/>
  </p:normalViewPr>
  <p:slideViewPr>
    <p:cSldViewPr snapToGrid="0">
      <p:cViewPr>
        <p:scale>
          <a:sx n="94" d="100"/>
          <a:sy n="94" d="100"/>
        </p:scale>
        <p:origin x="168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53026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97567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1594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64853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4951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783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3200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7590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67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37047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8921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94243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619671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ㄅ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ㄆ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ㄇ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ㄈ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ㄉ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ㄊ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ㄋ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ㄌ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ㄍ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ㄎ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ㄏ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ㄐ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ㄑ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ㄒ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ㄓ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ㄔ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ㄕ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ㄖ 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下次冬至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A0F9493-49FE-AF32-45B8-2434030E8D0E}"/>
              </a:ext>
            </a:extLst>
          </p:cNvPr>
          <p:cNvCxnSpPr>
            <a:cxnSpLocks/>
          </p:cNvCxnSpPr>
          <p:nvPr/>
        </p:nvCxnSpPr>
        <p:spPr>
          <a:xfrm>
            <a:off x="1794630" y="4328294"/>
            <a:ext cx="8039181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1">
            <a:extLst>
              <a:ext uri="{FF2B5EF4-FFF2-40B4-BE49-F238E27FC236}">
                <a16:creationId xmlns:a16="http://schemas.microsoft.com/office/drawing/2014/main" id="{0077F955-4872-B6CA-382E-D824968C2CA8}"/>
              </a:ext>
            </a:extLst>
          </p:cNvPr>
          <p:cNvSpPr txBox="1"/>
          <p:nvPr/>
        </p:nvSpPr>
        <p:spPr>
          <a:xfrm>
            <a:off x="4913974" y="3949664"/>
            <a:ext cx="180049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ysClr val="windowText" lastClr="000000"/>
                </a:solidFill>
                <a:latin typeface="Resource Han Rounded TW" panose="020B0300000000000000" pitchFamily="34" charset="-128"/>
                <a:ea typeface="Resource Han Rounded TW" panose="020B0300000000000000" pitchFamily="34" charset="-128"/>
              </a:rPr>
              <a:t>一年大約這麼長</a:t>
            </a:r>
          </a:p>
        </p:txBody>
      </p:sp>
    </p:spTree>
    <p:extLst>
      <p:ext uri="{BB962C8B-B14F-4D97-AF65-F5344CB8AC3E}">
        <p14:creationId xmlns:p14="http://schemas.microsoft.com/office/powerpoint/2010/main" val="1900971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047107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ㄅ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ㄆ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ㄇ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ㄈ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ㄉ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ㄊ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ㄋ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ㄌ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ㄍ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ㄎ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ㄏ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ㄐ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ㄑ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ㄒ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ㄓ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ㄔ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ㄕ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ㄖ 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正月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三月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四月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五月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六月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七月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八月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九月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A0F9493-49FE-AF32-45B8-2434030E8D0E}"/>
              </a:ext>
            </a:extLst>
          </p:cNvPr>
          <p:cNvCxnSpPr>
            <a:cxnSpLocks/>
          </p:cNvCxnSpPr>
          <p:nvPr/>
        </p:nvCxnSpPr>
        <p:spPr>
          <a:xfrm>
            <a:off x="1794630" y="4328294"/>
            <a:ext cx="8007096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80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386448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ㄅ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ㄆ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ㄇ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ㄈ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ㄉ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ㄊ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ㄋ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ㄌ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ㄍ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ㄎ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ㄏ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ㄐ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ㄑ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ㄒ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ㄓ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ㄔ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ㄕ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ㄖ 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正月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三月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四月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五月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六月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七月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八月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九月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C2315BE-A018-E295-C3E2-A0E50C78E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879241"/>
              </p:ext>
            </p:extLst>
          </p:nvPr>
        </p:nvGraphicFramePr>
        <p:xfrm>
          <a:off x="1713949" y="4404927"/>
          <a:ext cx="8065476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123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ctr"/>
                      <a:endParaRPr lang="zh-TW" altLang="en-US" b="1" i="0" dirty="0">
                        <a:latin typeface="Resource Han Rounded TW" panose="020B0300000000000000" pitchFamily="34" charset="-128"/>
                        <a:ea typeface="Resource Han Rounded TW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graphicFrame>
        <p:nvGraphicFramePr>
          <p:cNvPr id="21" name="表格 2">
            <a:extLst>
              <a:ext uri="{FF2B5EF4-FFF2-40B4-BE49-F238E27FC236}">
                <a16:creationId xmlns:a16="http://schemas.microsoft.com/office/drawing/2014/main" id="{43380BCA-B81B-A46C-2C91-A5EC3BC5C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809449"/>
              </p:ext>
            </p:extLst>
          </p:nvPr>
        </p:nvGraphicFramePr>
        <p:xfrm>
          <a:off x="1395900" y="4696474"/>
          <a:ext cx="8737599" cy="630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123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  <a:gridCol w="672123">
                  <a:extLst>
                    <a:ext uri="{9D8B030D-6E8A-4147-A177-3AD203B41FA5}">
                      <a16:colId xmlns:a16="http://schemas.microsoft.com/office/drawing/2014/main" val="2981051451"/>
                    </a:ext>
                  </a:extLst>
                </a:gridCol>
              </a:tblGrid>
              <a:tr h="63090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大寒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雨水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春分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穀雨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小滿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夏至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大暑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處暑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秋分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霜降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小雪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sp>
        <p:nvSpPr>
          <p:cNvPr id="22" name="迴轉箭號 21">
            <a:extLst>
              <a:ext uri="{FF2B5EF4-FFF2-40B4-BE49-F238E27FC236}">
                <a16:creationId xmlns:a16="http://schemas.microsoft.com/office/drawing/2014/main" id="{C6DFBD75-9DED-EF10-3747-2B46E11B17E8}"/>
              </a:ext>
            </a:extLst>
          </p:cNvPr>
          <p:cNvSpPr/>
          <p:nvPr/>
        </p:nvSpPr>
        <p:spPr>
          <a:xfrm>
            <a:off x="1674628" y="1878730"/>
            <a:ext cx="1472610" cy="357808"/>
          </a:xfrm>
          <a:prstGeom prst="uturnArrow">
            <a:avLst>
              <a:gd name="adj1" fmla="val 20122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F0700CB-9D4E-71E7-D3C5-95FF4416EDFD}"/>
              </a:ext>
            </a:extLst>
          </p:cNvPr>
          <p:cNvSpPr txBox="1"/>
          <p:nvPr/>
        </p:nvSpPr>
        <p:spPr>
          <a:xfrm>
            <a:off x="471940" y="1442605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bg1"/>
                </a:solidFill>
              </a:rPr>
              <a:t>冬至後，不算閏月的第二個月為正月</a:t>
            </a:r>
          </a:p>
        </p:txBody>
      </p:sp>
    </p:spTree>
    <p:extLst>
      <p:ext uri="{BB962C8B-B14F-4D97-AF65-F5344CB8AC3E}">
        <p14:creationId xmlns:p14="http://schemas.microsoft.com/office/powerpoint/2010/main" val="308792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476938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ㄅ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ㄆ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ㄇ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ㄈ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ㄉ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ㄊ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ㄋ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ㄌ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ㄍ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ㄎ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ㄏ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ㄐ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ㄑ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ㄒ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ㄓ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ㄔ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ㄕ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ㄖ 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正月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accent5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閏二月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三月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四月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五月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六月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七月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八月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九月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C2315BE-A018-E295-C3E2-A0E50C78E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559492"/>
              </p:ext>
            </p:extLst>
          </p:nvPr>
        </p:nvGraphicFramePr>
        <p:xfrm>
          <a:off x="1780208" y="4405729"/>
          <a:ext cx="89805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380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748380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ctr"/>
                      <a:endParaRPr lang="zh-TW" altLang="en-US" b="1" i="0" dirty="0">
                        <a:latin typeface="Resource Han Rounded TW" panose="020B0300000000000000" pitchFamily="34" charset="-128"/>
                        <a:ea typeface="Resource Han Rounded TW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graphicFrame>
        <p:nvGraphicFramePr>
          <p:cNvPr id="21" name="表格 2">
            <a:extLst>
              <a:ext uri="{FF2B5EF4-FFF2-40B4-BE49-F238E27FC236}">
                <a16:creationId xmlns:a16="http://schemas.microsoft.com/office/drawing/2014/main" id="{43380BCA-B81B-A46C-2C91-A5EC3BC5C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718694"/>
              </p:ext>
            </p:extLst>
          </p:nvPr>
        </p:nvGraphicFramePr>
        <p:xfrm>
          <a:off x="1451618" y="4706553"/>
          <a:ext cx="9706710" cy="630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670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  <a:gridCol w="746670">
                  <a:extLst>
                    <a:ext uri="{9D8B030D-6E8A-4147-A177-3AD203B41FA5}">
                      <a16:colId xmlns:a16="http://schemas.microsoft.com/office/drawing/2014/main" val="2981051451"/>
                    </a:ext>
                  </a:extLst>
                </a:gridCol>
              </a:tblGrid>
              <a:tr h="63090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大寒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雨水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春分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穀雨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小滿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夏至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大暑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處暑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秋分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霜降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小雪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sp>
        <p:nvSpPr>
          <p:cNvPr id="6" name="迴轉箭號 5">
            <a:extLst>
              <a:ext uri="{FF2B5EF4-FFF2-40B4-BE49-F238E27FC236}">
                <a16:creationId xmlns:a16="http://schemas.microsoft.com/office/drawing/2014/main" id="{7EE48268-68F6-8219-8DB3-DE1DD0003681}"/>
              </a:ext>
            </a:extLst>
          </p:cNvPr>
          <p:cNvSpPr/>
          <p:nvPr/>
        </p:nvSpPr>
        <p:spPr>
          <a:xfrm>
            <a:off x="1674628" y="1878730"/>
            <a:ext cx="1472610" cy="357808"/>
          </a:xfrm>
          <a:prstGeom prst="uturnArrow">
            <a:avLst>
              <a:gd name="adj1" fmla="val 20122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290E4F-34CD-6951-B92A-72F44C4317FF}"/>
              </a:ext>
            </a:extLst>
          </p:cNvPr>
          <p:cNvSpPr txBox="1"/>
          <p:nvPr/>
        </p:nvSpPr>
        <p:spPr>
          <a:xfrm>
            <a:off x="471940" y="1442605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bg1"/>
                </a:solidFill>
              </a:rPr>
              <a:t>冬至後，不算閏月的第二個月為正月</a:t>
            </a:r>
          </a:p>
        </p:txBody>
      </p:sp>
    </p:spTree>
    <p:extLst>
      <p:ext uri="{BB962C8B-B14F-4D97-AF65-F5344CB8AC3E}">
        <p14:creationId xmlns:p14="http://schemas.microsoft.com/office/powerpoint/2010/main" val="2592353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571704"/>
              </p:ext>
            </p:extLst>
          </p:nvPr>
        </p:nvGraphicFramePr>
        <p:xfrm>
          <a:off x="0" y="2327564"/>
          <a:ext cx="12191994" cy="2156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6580777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83715802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72248458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59824975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73640771"/>
                    </a:ext>
                  </a:extLst>
                </a:gridCol>
              </a:tblGrid>
              <a:tr h="457202"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ㄅ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ㄆ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ㄇ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ㄈ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ㄉ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ㄊ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ㄋ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ㄌ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ㄍ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ㄎ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ㄏ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ㄐ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ㄑ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ㄒ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</a:rPr>
                        <a:t>ㄓ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ㄔ</a:t>
                      </a:r>
                      <a:endParaRPr lang="zh-TW" altLang="en-US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ㄕ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ㄖ 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  <a:tr h="1698979"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accent5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去年閏十一月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去年十二月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正月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二月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三月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四月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五月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六月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七月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八月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九月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b="0" i="0" dirty="0">
                          <a:solidFill>
                            <a:schemeClr val="bg1"/>
                          </a:solidFill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十一月</a:t>
                      </a: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b="0" i="0" dirty="0">
                        <a:solidFill>
                          <a:schemeClr val="bg1"/>
                        </a:solidFill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19167"/>
                  </a:ext>
                </a:extLst>
              </a:tr>
            </a:tbl>
          </a:graphicData>
        </a:graphic>
      </p:graphicFrame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C2315BE-A018-E295-C3E2-A0E50C78E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834784"/>
              </p:ext>
            </p:extLst>
          </p:nvPr>
        </p:nvGraphicFramePr>
        <p:xfrm>
          <a:off x="1308260" y="4405729"/>
          <a:ext cx="8506901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284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599089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756745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680170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702691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747736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689179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707196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635125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702692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761249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756745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ctr"/>
                      <a:endParaRPr lang="zh-TW" altLang="en-US" b="1" i="0" dirty="0">
                        <a:latin typeface="Resource Han Rounded TW" panose="020B0300000000000000" pitchFamily="34" charset="-128"/>
                        <a:ea typeface="Resource Han Rounded TW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graphicFrame>
        <p:nvGraphicFramePr>
          <p:cNvPr id="21" name="表格 2">
            <a:extLst>
              <a:ext uri="{FF2B5EF4-FFF2-40B4-BE49-F238E27FC236}">
                <a16:creationId xmlns:a16="http://schemas.microsoft.com/office/drawing/2014/main" id="{43380BCA-B81B-A46C-2C91-A5EC3BC5C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049024"/>
              </p:ext>
            </p:extLst>
          </p:nvPr>
        </p:nvGraphicFramePr>
        <p:xfrm>
          <a:off x="979670" y="4706553"/>
          <a:ext cx="9243624" cy="630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048">
                  <a:extLst>
                    <a:ext uri="{9D8B030D-6E8A-4147-A177-3AD203B41FA5}">
                      <a16:colId xmlns:a16="http://schemas.microsoft.com/office/drawing/2014/main" val="822913279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913818070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4183541863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4084358182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935817609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2890403525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71272413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499564467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942542825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2640711207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393853284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189744325"/>
                    </a:ext>
                  </a:extLst>
                </a:gridCol>
                <a:gridCol w="711048">
                  <a:extLst>
                    <a:ext uri="{9D8B030D-6E8A-4147-A177-3AD203B41FA5}">
                      <a16:colId xmlns:a16="http://schemas.microsoft.com/office/drawing/2014/main" val="2981051451"/>
                    </a:ext>
                  </a:extLst>
                </a:gridCol>
              </a:tblGrid>
              <a:tr h="63090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</a:rPr>
                        <a:t>大寒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雨水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春分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穀雨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小滿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夏至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大暑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處暑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秋分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霜降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Resource Han Rounded TW Light" panose="020B0300000000000000" pitchFamily="34" charset="-128"/>
                          <a:ea typeface="Resource Han Rounded TW Light" panose="020B0300000000000000" pitchFamily="34" charset="-128"/>
                          <a:cs typeface="+mn-cs"/>
                        </a:rPr>
                        <a:t>小雪</a:t>
                      </a:r>
                      <a:endParaRPr lang="zh-TW" altLang="en-US" dirty="0">
                        <a:latin typeface="Resource Han Rounded TW Light" panose="020B0300000000000000" pitchFamily="34" charset="-128"/>
                        <a:ea typeface="Resource Han Rounded TW Light" panose="020B0300000000000000" pitchFamily="34" charset="-128"/>
                      </a:endParaRP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i="0" dirty="0">
                          <a:latin typeface="Resource Han Rounded TW" panose="020B0300000000000000" pitchFamily="34" charset="-128"/>
                          <a:ea typeface="Resource Han Rounded TW" panose="020B0300000000000000" pitchFamily="34" charset="-128"/>
                        </a:rPr>
                        <a:t>冬至</a:t>
                      </a:r>
                    </a:p>
                  </a:txBody>
                  <a:tcPr vert="eaVert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86052"/>
                  </a:ext>
                </a:extLst>
              </a:tr>
            </a:tbl>
          </a:graphicData>
        </a:graphic>
      </p:graphicFrame>
      <p:sp>
        <p:nvSpPr>
          <p:cNvPr id="3" name="迴轉箭號 2">
            <a:extLst>
              <a:ext uri="{FF2B5EF4-FFF2-40B4-BE49-F238E27FC236}">
                <a16:creationId xmlns:a16="http://schemas.microsoft.com/office/drawing/2014/main" id="{3D423F68-D882-AE47-5008-2416F4A2352C}"/>
              </a:ext>
            </a:extLst>
          </p:cNvPr>
          <p:cNvSpPr/>
          <p:nvPr/>
        </p:nvSpPr>
        <p:spPr>
          <a:xfrm>
            <a:off x="979670" y="1878730"/>
            <a:ext cx="2167568" cy="357808"/>
          </a:xfrm>
          <a:prstGeom prst="uturnArrow">
            <a:avLst>
              <a:gd name="adj1" fmla="val 20122"/>
              <a:gd name="adj2" fmla="val 25000"/>
              <a:gd name="adj3" fmla="val 25000"/>
              <a:gd name="adj4" fmla="val 43750"/>
              <a:gd name="adj5" fmla="val 10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ECAE6B-FCAE-7C9B-C7CB-E63742727FEB}"/>
              </a:ext>
            </a:extLst>
          </p:cNvPr>
          <p:cNvSpPr txBox="1"/>
          <p:nvPr/>
        </p:nvSpPr>
        <p:spPr>
          <a:xfrm>
            <a:off x="471940" y="1442605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chemeClr val="bg1"/>
                </a:solidFill>
              </a:rPr>
              <a:t>冬至後，不算閏月的第二個月為正月</a:t>
            </a:r>
          </a:p>
        </p:txBody>
      </p:sp>
    </p:spTree>
    <p:extLst>
      <p:ext uri="{BB962C8B-B14F-4D97-AF65-F5344CB8AC3E}">
        <p14:creationId xmlns:p14="http://schemas.microsoft.com/office/powerpoint/2010/main" val="2107426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297</TotalTime>
  <Words>239</Words>
  <Application>Microsoft Macintosh PowerPoint</Application>
  <PresentationFormat>寬螢幕</PresentationFormat>
  <Paragraphs>189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標楷體</vt:lpstr>
      <vt:lpstr>Resource Han Rounded TW</vt:lpstr>
      <vt:lpstr>Resource Han Rounded TW Light</vt:lpstr>
      <vt:lpstr>Arial</vt:lpstr>
      <vt:lpstr>Rockwell</vt:lpstr>
      <vt:lpstr>Tw Cen MT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Sun Shih Chien</dc:creator>
  <cp:lastModifiedBy>Sun Shih Chien</cp:lastModifiedBy>
  <cp:revision>9</cp:revision>
  <dcterms:created xsi:type="dcterms:W3CDTF">2023-04-01T19:21:20Z</dcterms:created>
  <dcterms:modified xsi:type="dcterms:W3CDTF">2023-04-02T10:37:44Z</dcterms:modified>
</cp:coreProperties>
</file>